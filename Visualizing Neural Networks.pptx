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6858000" cx="12192000"/>
  <p:notesSz cx="6858000" cy="9144000"/>
  <p:embeddedFontLst>
    <p:embeddedFont>
      <p:font typeface="Poppins"/>
      <p:regular r:id="rId17"/>
      <p:bold r:id="rId18"/>
      <p:italic r:id="rId19"/>
      <p:boldItalic r:id="rId20"/>
    </p:embeddedFont>
    <p:embeddedFont>
      <p:font typeface="Inter"/>
      <p:regular r:id="rId21"/>
      <p:bold r:id="rId22"/>
      <p:italic r:id="rId23"/>
      <p:boldItalic r:id="rId24"/>
    </p:embeddedFont>
    <p:embeddedFont>
      <p:font typeface="Poppins SemiBold"/>
      <p:regular r:id="rId25"/>
      <p:bold r:id="rId26"/>
      <p:italic r:id="rId27"/>
      <p:boldItalic r:id="rId28"/>
    </p:embeddedFont>
    <p:embeddedFont>
      <p:font typeface="Inter Medium"/>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oppins-boldItalic.fntdata"/><Relationship Id="rId22" Type="http://schemas.openxmlformats.org/officeDocument/2006/relationships/font" Target="fonts/Inter-bold.fntdata"/><Relationship Id="rId21" Type="http://schemas.openxmlformats.org/officeDocument/2006/relationships/font" Target="fonts/Inter-regular.fntdata"/><Relationship Id="rId24" Type="http://schemas.openxmlformats.org/officeDocument/2006/relationships/font" Target="fonts/Inter-boldItalic.fntdata"/><Relationship Id="rId23" Type="http://schemas.openxmlformats.org/officeDocument/2006/relationships/font" Target="fonts/Inter-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oppinsSemiBold-bold.fntdata"/><Relationship Id="rId25" Type="http://schemas.openxmlformats.org/officeDocument/2006/relationships/font" Target="fonts/PoppinsSemiBold-regular.fntdata"/><Relationship Id="rId28" Type="http://schemas.openxmlformats.org/officeDocument/2006/relationships/font" Target="fonts/PoppinsSemiBold-boldItalic.fntdata"/><Relationship Id="rId27" Type="http://schemas.openxmlformats.org/officeDocument/2006/relationships/font" Target="fonts/PoppinsSemi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InterMedium-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InterMedium-italic.fntdata"/><Relationship Id="rId30" Type="http://schemas.openxmlformats.org/officeDocument/2006/relationships/font" Target="fonts/InterMedium-bold.fntdata"/><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font" Target="fonts/InterMedium-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Poppins-regular.fntdata"/><Relationship Id="rId16" Type="http://schemas.openxmlformats.org/officeDocument/2006/relationships/slide" Target="slides/slide11.xml"/><Relationship Id="rId19" Type="http://schemas.openxmlformats.org/officeDocument/2006/relationships/font" Target="fonts/Poppins-italic.fntdata"/><Relationship Id="rId18" Type="http://schemas.openxmlformats.org/officeDocument/2006/relationships/font" Target="fonts/Poppins-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9.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19.png"/><Relationship Id="rId5" Type="http://schemas.openxmlformats.org/officeDocument/2006/relationships/image" Target="../media/image1.png"/><Relationship Id="rId6" Type="http://schemas.openxmlformats.org/officeDocument/2006/relationships/image" Target="../media/image8.png"/><Relationship Id="rId7" Type="http://schemas.openxmlformats.org/officeDocument/2006/relationships/image" Target="../media/image3.png"/><Relationship Id="rId8"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10.png"/><Relationship Id="rId5" Type="http://schemas.openxmlformats.org/officeDocument/2006/relationships/image" Target="../media/image5.png"/><Relationship Id="rId6"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13.png"/><Relationship Id="rId9" Type="http://schemas.openxmlformats.org/officeDocument/2006/relationships/image" Target="../media/image17.png"/><Relationship Id="rId5" Type="http://schemas.openxmlformats.org/officeDocument/2006/relationships/image" Target="../media/image15.png"/><Relationship Id="rId6" Type="http://schemas.openxmlformats.org/officeDocument/2006/relationships/image" Target="../media/image18.png"/><Relationship Id="rId7" Type="http://schemas.openxmlformats.org/officeDocument/2006/relationships/image" Target="../media/image16.png"/><Relationship Id="rId8"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13.png"/><Relationship Id="rId9" Type="http://schemas.openxmlformats.org/officeDocument/2006/relationships/image" Target="../media/image25.png"/><Relationship Id="rId5" Type="http://schemas.openxmlformats.org/officeDocument/2006/relationships/image" Target="../media/image15.png"/><Relationship Id="rId6" Type="http://schemas.openxmlformats.org/officeDocument/2006/relationships/image" Target="../media/image18.png"/><Relationship Id="rId7" Type="http://schemas.openxmlformats.org/officeDocument/2006/relationships/image" Target="../media/image22.png"/><Relationship Id="rId8"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24.png"/><Relationship Id="rId5" Type="http://schemas.openxmlformats.org/officeDocument/2006/relationships/image" Target="../media/image27.png"/><Relationship Id="rId6"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120"/>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85" name="Google Shape;85;p13"/>
          <p:cNvPicPr preferRelativeResize="0"/>
          <p:nvPr/>
        </p:nvPicPr>
        <p:blipFill rotWithShape="1">
          <a:blip r:embed="rId4">
            <a:alphaModFix/>
          </a:blip>
          <a:srcRect b="0" l="0" r="0" t="0"/>
          <a:stretch/>
        </p:blipFill>
        <p:spPr>
          <a:xfrm>
            <a:off x="4429125" y="3905250"/>
            <a:ext cx="3333750" cy="676275"/>
          </a:xfrm>
          <a:prstGeom prst="rect">
            <a:avLst/>
          </a:prstGeom>
          <a:noFill/>
          <a:ln>
            <a:noFill/>
          </a:ln>
        </p:spPr>
      </p:pic>
      <p:sp>
        <p:nvSpPr>
          <p:cNvPr id="86" name="Google Shape;86;p13"/>
          <p:cNvSpPr txBox="1"/>
          <p:nvPr/>
        </p:nvSpPr>
        <p:spPr>
          <a:xfrm>
            <a:off x="2005488" y="2276475"/>
            <a:ext cx="8181022" cy="8286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350" u="none" cap="none" strike="noStrike">
                <a:solidFill>
                  <a:srgbClr val="F8FAFC"/>
                </a:solidFill>
                <a:latin typeface="Poppins"/>
                <a:ea typeface="Poppins"/>
                <a:cs typeface="Poppins"/>
                <a:sym typeface="Poppins"/>
              </a:rPr>
              <a:t>Visualizing Neural Networks</a:t>
            </a:r>
            <a:endParaRPr/>
          </a:p>
        </p:txBody>
      </p:sp>
      <p:sp>
        <p:nvSpPr>
          <p:cNvPr id="87" name="Google Shape;87;p13"/>
          <p:cNvSpPr txBox="1"/>
          <p:nvPr/>
        </p:nvSpPr>
        <p:spPr>
          <a:xfrm>
            <a:off x="3929062" y="3248025"/>
            <a:ext cx="4333875"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500" u="none" cap="none" strike="noStrike">
                <a:solidFill>
                  <a:srgbClr val="14B8A6"/>
                </a:solidFill>
                <a:latin typeface="Inter Medium"/>
                <a:ea typeface="Inter Medium"/>
                <a:cs typeface="Inter Medium"/>
                <a:sym typeface="Inter Medium"/>
              </a:rPr>
              <a:t>An Intuitive Journey into Deep Learning</a:t>
            </a:r>
            <a:endParaRPr/>
          </a:p>
        </p:txBody>
      </p:sp>
      <p:sp>
        <p:nvSpPr>
          <p:cNvPr id="88" name="Google Shape;88;p13"/>
          <p:cNvSpPr txBox="1"/>
          <p:nvPr/>
        </p:nvSpPr>
        <p:spPr>
          <a:xfrm>
            <a:off x="4429125" y="4152900"/>
            <a:ext cx="3333900" cy="184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200">
                <a:solidFill>
                  <a:srgbClr val="94A3B8"/>
                </a:solidFill>
                <a:latin typeface="Inter"/>
                <a:ea typeface="Inter"/>
                <a:cs typeface="Inter"/>
                <a:sym typeface="Inter"/>
              </a:rPr>
              <a:t>Ashish Mishra</a:t>
            </a:r>
            <a:endParaRPr/>
          </a:p>
        </p:txBody>
      </p:sp>
      <p:sp>
        <p:nvSpPr>
          <p:cNvPr id="89" name="Google Shape;89;p13"/>
          <p:cNvSpPr txBox="1"/>
          <p:nvPr/>
        </p:nvSpPr>
        <p:spPr>
          <a:xfrm>
            <a:off x="4429125" y="4381500"/>
            <a:ext cx="3333900" cy="161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050" u="none" cap="none" strike="noStrike">
                <a:solidFill>
                  <a:srgbClr val="64748B"/>
                </a:solidFill>
                <a:latin typeface="Inter"/>
                <a:ea typeface="Inter"/>
                <a:cs typeface="Inter"/>
                <a:sym typeface="Inter"/>
              </a:rPr>
              <a:t>May 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120"/>
        </a:solidFill>
      </p:bgPr>
    </p:bg>
    <p:spTree>
      <p:nvGrpSpPr>
        <p:cNvPr id="93" name="Shape 93"/>
        <p:cNvGrpSpPr/>
        <p:nvPr/>
      </p:nvGrpSpPr>
      <p:grpSpPr>
        <a:xfrm>
          <a:off x="0" y="0"/>
          <a:ext cx="0" cy="0"/>
          <a:chOff x="0" y="0"/>
          <a:chExt cx="0" cy="0"/>
        </a:xfrm>
      </p:grpSpPr>
      <p:pic>
        <p:nvPicPr>
          <p:cNvPr descr="image.png" id="94" name="Google Shape;94;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5" name="Google Shape;95;p14"/>
          <p:cNvPicPr preferRelativeResize="0"/>
          <p:nvPr/>
        </p:nvPicPr>
        <p:blipFill rotWithShape="1">
          <a:blip r:embed="rId4">
            <a:alphaModFix/>
          </a:blip>
          <a:srcRect b="0" l="0" r="0" t="0"/>
          <a:stretch/>
        </p:blipFill>
        <p:spPr>
          <a:xfrm>
            <a:off x="6286500" y="2033587"/>
            <a:ext cx="5324475" cy="3619500"/>
          </a:xfrm>
          <a:prstGeom prst="rect">
            <a:avLst/>
          </a:prstGeom>
          <a:noFill/>
          <a:ln>
            <a:noFill/>
          </a:ln>
        </p:spPr>
      </p:pic>
      <p:sp>
        <p:nvSpPr>
          <p:cNvPr id="96" name="Google Shape;96;p14"/>
          <p:cNvSpPr txBox="1"/>
          <p:nvPr/>
        </p:nvSpPr>
        <p:spPr>
          <a:xfrm>
            <a:off x="771525" y="2753766"/>
            <a:ext cx="4943475"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F1F5F9"/>
                </a:solidFill>
                <a:latin typeface="Inter Medium"/>
                <a:ea typeface="Inter Medium"/>
                <a:cs typeface="Inter Medium"/>
                <a:sym typeface="Inter Medium"/>
              </a:rPr>
              <a:t>"A neural network is a machine learning model inspired by the human brain. It processes data through layers of interconnected neurons to identify patterns and make predictions."</a:t>
            </a:r>
            <a:endParaRPr/>
          </a:p>
        </p:txBody>
      </p:sp>
      <p:sp>
        <p:nvSpPr>
          <p:cNvPr id="97" name="Google Shape;97;p14"/>
          <p:cNvSpPr/>
          <p:nvPr/>
        </p:nvSpPr>
        <p:spPr>
          <a:xfrm>
            <a:off x="581025" y="2753766"/>
            <a:ext cx="38100" cy="1219200"/>
          </a:xfrm>
          <a:prstGeom prst="rect">
            <a:avLst/>
          </a:prstGeom>
          <a:solidFill>
            <a:srgbClr val="14B8A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8" name="Google Shape;98;p14"/>
          <p:cNvSpPr txBox="1"/>
          <p:nvPr/>
        </p:nvSpPr>
        <p:spPr>
          <a:xfrm>
            <a:off x="581025" y="4201566"/>
            <a:ext cx="5133975" cy="73134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Inter"/>
                <a:ea typeface="Inter"/>
                <a:cs typeface="Inter"/>
                <a:sym typeface="Inter"/>
              </a:rPr>
              <a:t>By combining millions of simple mathematical nodes in layers, the network is capable of learning complex abstractions, such as identifying objects in images or understanding human language.</a:t>
            </a:r>
            <a:endParaRPr/>
          </a:p>
        </p:txBody>
      </p:sp>
      <p:pic>
        <p:nvPicPr>
          <p:cNvPr descr="image.png" id="99" name="Google Shape;99;p14"/>
          <p:cNvPicPr preferRelativeResize="0"/>
          <p:nvPr/>
        </p:nvPicPr>
        <p:blipFill rotWithShape="1">
          <a:blip r:embed="rId5">
            <a:alphaModFix/>
          </a:blip>
          <a:srcRect b="0" l="0" r="0" t="0"/>
          <a:stretch/>
        </p:blipFill>
        <p:spPr>
          <a:xfrm>
            <a:off x="6296025" y="2043112"/>
            <a:ext cx="5305425" cy="3600450"/>
          </a:xfrm>
          <a:prstGeom prst="rect">
            <a:avLst/>
          </a:prstGeom>
          <a:noFill/>
          <a:ln>
            <a:noFill/>
          </a:ln>
        </p:spPr>
      </p:pic>
      <p:sp>
        <p:nvSpPr>
          <p:cNvPr id="100" name="Google Shape;100;p14"/>
          <p:cNvSpPr txBox="1"/>
          <p:nvPr/>
        </p:nvSpPr>
        <p:spPr>
          <a:xfrm>
            <a:off x="581025" y="581025"/>
            <a:ext cx="11581447" cy="542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F8FAFC"/>
                </a:solidFill>
                <a:latin typeface="Poppins"/>
                <a:ea typeface="Poppins"/>
                <a:cs typeface="Poppins"/>
                <a:sym typeface="Poppins"/>
              </a:rPr>
              <a:t>What is a Neural Network?</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120"/>
        </a:solidFill>
      </p:bgPr>
    </p:bg>
    <p:spTree>
      <p:nvGrpSpPr>
        <p:cNvPr id="104" name="Shape 104"/>
        <p:cNvGrpSpPr/>
        <p:nvPr/>
      </p:nvGrpSpPr>
      <p:grpSpPr>
        <a:xfrm>
          <a:off x="0" y="0"/>
          <a:ext cx="0" cy="0"/>
          <a:chOff x="0" y="0"/>
          <a:chExt cx="0" cy="0"/>
        </a:xfrm>
      </p:grpSpPr>
      <p:pic>
        <p:nvPicPr>
          <p:cNvPr descr="image.png" id="105" name="Google Shape;105;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6" name="Google Shape;106;p15"/>
          <p:cNvPicPr preferRelativeResize="0"/>
          <p:nvPr/>
        </p:nvPicPr>
        <p:blipFill rotWithShape="1">
          <a:blip r:embed="rId4">
            <a:alphaModFix/>
          </a:blip>
          <a:srcRect b="0" l="0" r="0" t="0"/>
          <a:stretch/>
        </p:blipFill>
        <p:spPr>
          <a:xfrm>
            <a:off x="6286500" y="2033587"/>
            <a:ext cx="5324475" cy="3619500"/>
          </a:xfrm>
          <a:prstGeom prst="rect">
            <a:avLst/>
          </a:prstGeom>
          <a:noFill/>
          <a:ln>
            <a:noFill/>
          </a:ln>
        </p:spPr>
      </p:pic>
      <p:pic>
        <p:nvPicPr>
          <p:cNvPr descr="image.png" id="107" name="Google Shape;107;p15"/>
          <p:cNvPicPr preferRelativeResize="0"/>
          <p:nvPr/>
        </p:nvPicPr>
        <p:blipFill rotWithShape="1">
          <a:blip r:embed="rId5">
            <a:alphaModFix/>
          </a:blip>
          <a:srcRect b="0" l="0" r="0" t="0"/>
          <a:stretch/>
        </p:blipFill>
        <p:spPr>
          <a:xfrm>
            <a:off x="6296025" y="2043112"/>
            <a:ext cx="5305425" cy="3600450"/>
          </a:xfrm>
          <a:prstGeom prst="rect">
            <a:avLst/>
          </a:prstGeom>
          <a:noFill/>
          <a:ln>
            <a:noFill/>
          </a:ln>
        </p:spPr>
      </p:pic>
      <p:pic>
        <p:nvPicPr>
          <p:cNvPr descr="image.png" id="108" name="Google Shape;108;p15"/>
          <p:cNvPicPr preferRelativeResize="0"/>
          <p:nvPr/>
        </p:nvPicPr>
        <p:blipFill rotWithShape="1">
          <a:blip r:embed="rId6">
            <a:alphaModFix/>
          </a:blip>
          <a:srcRect b="0" l="0" r="0" t="0"/>
          <a:stretch/>
        </p:blipFill>
        <p:spPr>
          <a:xfrm>
            <a:off x="581025" y="2745581"/>
            <a:ext cx="1028700" cy="295275"/>
          </a:xfrm>
          <a:prstGeom prst="rect">
            <a:avLst/>
          </a:prstGeom>
          <a:noFill/>
          <a:ln>
            <a:noFill/>
          </a:ln>
        </p:spPr>
      </p:pic>
      <p:sp>
        <p:nvSpPr>
          <p:cNvPr id="109" name="Google Shape;109;p15"/>
          <p:cNvSpPr txBox="1"/>
          <p:nvPr/>
        </p:nvSpPr>
        <p:spPr>
          <a:xfrm>
            <a:off x="1762125" y="2726531"/>
            <a:ext cx="4143375" cy="642937"/>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94A3B8"/>
                </a:solidFill>
                <a:latin typeface="Inter"/>
                <a:ea typeface="Inter"/>
                <a:cs typeface="Inter"/>
                <a:sym typeface="Inter"/>
              </a:rPr>
              <a:t>Receives raw features from datasets (such as individual pixels, audio waves, or structured fields) and serves as the entry point of the network.</a:t>
            </a:r>
            <a:endParaRPr/>
          </a:p>
        </p:txBody>
      </p:sp>
      <p:pic>
        <p:nvPicPr>
          <p:cNvPr descr="image.png" id="110" name="Google Shape;110;p15"/>
          <p:cNvPicPr preferRelativeResize="0"/>
          <p:nvPr/>
        </p:nvPicPr>
        <p:blipFill rotWithShape="1">
          <a:blip r:embed="rId7">
            <a:alphaModFix/>
          </a:blip>
          <a:srcRect b="0" l="0" r="0" t="0"/>
          <a:stretch/>
        </p:blipFill>
        <p:spPr>
          <a:xfrm>
            <a:off x="581025" y="3540918"/>
            <a:ext cx="1228725" cy="295275"/>
          </a:xfrm>
          <a:prstGeom prst="rect">
            <a:avLst/>
          </a:prstGeom>
          <a:noFill/>
          <a:ln>
            <a:noFill/>
          </a:ln>
        </p:spPr>
      </p:pic>
      <p:sp>
        <p:nvSpPr>
          <p:cNvPr id="111" name="Google Shape;111;p15"/>
          <p:cNvSpPr txBox="1"/>
          <p:nvPr/>
        </p:nvSpPr>
        <p:spPr>
          <a:xfrm>
            <a:off x="1962150" y="3521868"/>
            <a:ext cx="3943350" cy="642937"/>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94A3B8"/>
                </a:solidFill>
                <a:latin typeface="Inter"/>
                <a:ea typeface="Inter"/>
                <a:cs typeface="Inter"/>
                <a:sym typeface="Inter"/>
              </a:rPr>
              <a:t>Intermediary processing blocks. They dynamically extract increasingly abstract features, learning nonlinear relationships.</a:t>
            </a:r>
            <a:endParaRPr/>
          </a:p>
        </p:txBody>
      </p:sp>
      <p:pic>
        <p:nvPicPr>
          <p:cNvPr descr="image.png" id="112" name="Google Shape;112;p15"/>
          <p:cNvPicPr preferRelativeResize="0"/>
          <p:nvPr/>
        </p:nvPicPr>
        <p:blipFill rotWithShape="1">
          <a:blip r:embed="rId8">
            <a:alphaModFix/>
          </a:blip>
          <a:srcRect b="0" l="0" r="0" t="0"/>
          <a:stretch/>
        </p:blipFill>
        <p:spPr>
          <a:xfrm>
            <a:off x="581025" y="4336256"/>
            <a:ext cx="1143000" cy="295275"/>
          </a:xfrm>
          <a:prstGeom prst="rect">
            <a:avLst/>
          </a:prstGeom>
          <a:noFill/>
          <a:ln>
            <a:noFill/>
          </a:ln>
        </p:spPr>
      </p:pic>
      <p:sp>
        <p:nvSpPr>
          <p:cNvPr id="113" name="Google Shape;113;p15"/>
          <p:cNvSpPr txBox="1"/>
          <p:nvPr/>
        </p:nvSpPr>
        <p:spPr>
          <a:xfrm>
            <a:off x="1876425" y="4317206"/>
            <a:ext cx="4029075" cy="642937"/>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94A3B8"/>
                </a:solidFill>
                <a:latin typeface="Inter"/>
                <a:ea typeface="Inter"/>
                <a:cs typeface="Inter"/>
                <a:sym typeface="Inter"/>
              </a:rPr>
              <a:t>The final layer that converts processed representations into concrete predictions, like class categories or regression targets.</a:t>
            </a:r>
            <a:endParaRPr/>
          </a:p>
        </p:txBody>
      </p:sp>
      <p:sp>
        <p:nvSpPr>
          <p:cNvPr id="114" name="Google Shape;114;p15"/>
          <p:cNvSpPr txBox="1"/>
          <p:nvPr/>
        </p:nvSpPr>
        <p:spPr>
          <a:xfrm>
            <a:off x="581025" y="581025"/>
            <a:ext cx="11581447" cy="542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F8FAFC"/>
                </a:solidFill>
                <a:latin typeface="Poppins"/>
                <a:ea typeface="Poppins"/>
                <a:cs typeface="Poppins"/>
                <a:sym typeface="Poppins"/>
              </a:rPr>
              <a:t>Layers: Structuring Data Flow</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120"/>
        </a:solidFill>
      </p:bgPr>
    </p:bg>
    <p:spTree>
      <p:nvGrpSpPr>
        <p:cNvPr id="118" name="Shape 118"/>
        <p:cNvGrpSpPr/>
        <p:nvPr/>
      </p:nvGrpSpPr>
      <p:grpSpPr>
        <a:xfrm>
          <a:off x="0" y="0"/>
          <a:ext cx="0" cy="0"/>
          <a:chOff x="0" y="0"/>
          <a:chExt cx="0" cy="0"/>
        </a:xfrm>
      </p:grpSpPr>
      <p:pic>
        <p:nvPicPr>
          <p:cNvPr descr="image.png" id="119" name="Google Shape;119;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20" name="Google Shape;120;p16"/>
          <p:cNvPicPr preferRelativeResize="0"/>
          <p:nvPr/>
        </p:nvPicPr>
        <p:blipFill rotWithShape="1">
          <a:blip r:embed="rId4">
            <a:alphaModFix/>
          </a:blip>
          <a:srcRect b="0" l="0" r="0" t="0"/>
          <a:stretch/>
        </p:blipFill>
        <p:spPr>
          <a:xfrm>
            <a:off x="581025" y="2513707"/>
            <a:ext cx="5324475" cy="2659260"/>
          </a:xfrm>
          <a:prstGeom prst="rect">
            <a:avLst/>
          </a:prstGeom>
          <a:noFill/>
          <a:ln>
            <a:noFill/>
          </a:ln>
        </p:spPr>
      </p:pic>
      <p:pic>
        <p:nvPicPr>
          <p:cNvPr descr="image.png" id="121" name="Google Shape;121;p16"/>
          <p:cNvPicPr preferRelativeResize="0"/>
          <p:nvPr/>
        </p:nvPicPr>
        <p:blipFill rotWithShape="1">
          <a:blip r:embed="rId4">
            <a:alphaModFix/>
          </a:blip>
          <a:srcRect b="0" l="0" r="0" t="0"/>
          <a:stretch/>
        </p:blipFill>
        <p:spPr>
          <a:xfrm>
            <a:off x="6286500" y="2513707"/>
            <a:ext cx="5324475" cy="2659260"/>
          </a:xfrm>
          <a:prstGeom prst="rect">
            <a:avLst/>
          </a:prstGeom>
          <a:noFill/>
          <a:ln>
            <a:noFill/>
          </a:ln>
        </p:spPr>
      </p:pic>
      <p:pic>
        <p:nvPicPr>
          <p:cNvPr descr="image.png" id="122" name="Google Shape;122;p16"/>
          <p:cNvPicPr preferRelativeResize="0"/>
          <p:nvPr/>
        </p:nvPicPr>
        <p:blipFill rotWithShape="1">
          <a:blip r:embed="rId5">
            <a:alphaModFix/>
          </a:blip>
          <a:srcRect b="0" l="0" r="0" t="0"/>
          <a:stretch/>
        </p:blipFill>
        <p:spPr>
          <a:xfrm>
            <a:off x="6677025" y="4020442"/>
            <a:ext cx="4543425" cy="762000"/>
          </a:xfrm>
          <a:prstGeom prst="rect">
            <a:avLst/>
          </a:prstGeom>
          <a:noFill/>
          <a:ln>
            <a:noFill/>
          </a:ln>
        </p:spPr>
      </p:pic>
      <p:sp>
        <p:nvSpPr>
          <p:cNvPr id="123" name="Google Shape;123;p16"/>
          <p:cNvSpPr txBox="1"/>
          <p:nvPr/>
        </p:nvSpPr>
        <p:spPr>
          <a:xfrm>
            <a:off x="971550" y="3112889"/>
            <a:ext cx="4770596" cy="3333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14B8A6"/>
                </a:solidFill>
                <a:latin typeface="Poppins SemiBold"/>
                <a:ea typeface="Poppins SemiBold"/>
                <a:cs typeface="Poppins SemiBold"/>
                <a:sym typeface="Poppins SemiBold"/>
              </a:rPr>
              <a:t>Processing Units</a:t>
            </a:r>
            <a:endParaRPr/>
          </a:p>
        </p:txBody>
      </p:sp>
      <p:sp>
        <p:nvSpPr>
          <p:cNvPr id="124" name="Google Shape;124;p16"/>
          <p:cNvSpPr txBox="1"/>
          <p:nvPr/>
        </p:nvSpPr>
        <p:spPr>
          <a:xfrm>
            <a:off x="971550" y="3598664"/>
            <a:ext cx="4543425" cy="9751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Inter"/>
                <a:ea typeface="Inter"/>
                <a:cs typeface="Inter"/>
                <a:sym typeface="Inter"/>
              </a:rPr>
              <a:t>Neurons are the essential building blocks of AI. They receive continuous inputs from preceding layers, calculate their weighted sum, apply bias values, and filter the result using an activation function.</a:t>
            </a:r>
            <a:endParaRPr/>
          </a:p>
        </p:txBody>
      </p:sp>
      <p:sp>
        <p:nvSpPr>
          <p:cNvPr id="125" name="Google Shape;125;p16"/>
          <p:cNvSpPr txBox="1"/>
          <p:nvPr/>
        </p:nvSpPr>
        <p:spPr>
          <a:xfrm>
            <a:off x="6677025" y="2904232"/>
            <a:ext cx="4770596" cy="3333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14B8A6"/>
                </a:solidFill>
                <a:latin typeface="Poppins SemiBold"/>
                <a:ea typeface="Poppins SemiBold"/>
                <a:cs typeface="Poppins SemiBold"/>
                <a:sym typeface="Poppins SemiBold"/>
              </a:rPr>
              <a:t>The Mathematical Model</a:t>
            </a:r>
            <a:endParaRPr/>
          </a:p>
        </p:txBody>
      </p:sp>
      <p:sp>
        <p:nvSpPr>
          <p:cNvPr id="126" name="Google Shape;126;p16"/>
          <p:cNvSpPr txBox="1"/>
          <p:nvPr/>
        </p:nvSpPr>
        <p:spPr>
          <a:xfrm>
            <a:off x="6677025" y="3390007"/>
            <a:ext cx="4543425" cy="4875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Inter"/>
                <a:ea typeface="Inter"/>
                <a:cs typeface="Inter"/>
                <a:sym typeface="Inter"/>
              </a:rPr>
              <a:t>Each neuron behaves as an elegant mathematical operator processing multi-dimensional coordinate vectors:</a:t>
            </a:r>
            <a:endParaRPr/>
          </a:p>
        </p:txBody>
      </p:sp>
      <p:pic>
        <p:nvPicPr>
          <p:cNvPr descr="image.png" id="127" name="Google Shape;127;p16"/>
          <p:cNvPicPr preferRelativeResize="0"/>
          <p:nvPr/>
        </p:nvPicPr>
        <p:blipFill rotWithShape="1">
          <a:blip r:embed="rId6">
            <a:alphaModFix/>
          </a:blip>
          <a:srcRect b="0" l="0" r="0" t="0"/>
          <a:stretch/>
        </p:blipFill>
        <p:spPr>
          <a:xfrm>
            <a:off x="7878663" y="4258567"/>
            <a:ext cx="2139999" cy="285750"/>
          </a:xfrm>
          <a:prstGeom prst="rect">
            <a:avLst/>
          </a:prstGeom>
          <a:noFill/>
          <a:ln>
            <a:noFill/>
          </a:ln>
        </p:spPr>
      </p:pic>
      <p:sp>
        <p:nvSpPr>
          <p:cNvPr id="128" name="Google Shape;128;p16"/>
          <p:cNvSpPr txBox="1"/>
          <p:nvPr/>
        </p:nvSpPr>
        <p:spPr>
          <a:xfrm>
            <a:off x="581025" y="581025"/>
            <a:ext cx="11581447" cy="542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F8FAFC"/>
                </a:solidFill>
                <a:latin typeface="Poppins"/>
                <a:ea typeface="Poppins"/>
                <a:cs typeface="Poppins"/>
                <a:sym typeface="Poppins"/>
              </a:rPr>
              <a:t>Neurons: Core Computation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120"/>
        </a:solidFill>
      </p:bgPr>
    </p:bg>
    <p:spTree>
      <p:nvGrpSpPr>
        <p:cNvPr id="132" name="Shape 132"/>
        <p:cNvGrpSpPr/>
        <p:nvPr/>
      </p:nvGrpSpPr>
      <p:grpSpPr>
        <a:xfrm>
          <a:off x="0" y="0"/>
          <a:ext cx="0" cy="0"/>
          <a:chOff x="0" y="0"/>
          <a:chExt cx="0" cy="0"/>
        </a:xfrm>
      </p:grpSpPr>
      <p:pic>
        <p:nvPicPr>
          <p:cNvPr descr="image.png" id="133" name="Google Shape;133;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34" name="Google Shape;134;p17"/>
          <p:cNvPicPr preferRelativeResize="0"/>
          <p:nvPr/>
        </p:nvPicPr>
        <p:blipFill rotWithShape="1">
          <a:blip r:embed="rId4">
            <a:alphaModFix/>
          </a:blip>
          <a:srcRect b="0" l="0" r="0" t="0"/>
          <a:stretch/>
        </p:blipFill>
        <p:spPr>
          <a:xfrm>
            <a:off x="581025" y="2600473"/>
            <a:ext cx="5324475" cy="2485727"/>
          </a:xfrm>
          <a:prstGeom prst="rect">
            <a:avLst/>
          </a:prstGeom>
          <a:noFill/>
          <a:ln>
            <a:noFill/>
          </a:ln>
        </p:spPr>
      </p:pic>
      <p:pic>
        <p:nvPicPr>
          <p:cNvPr descr="image.png" id="135" name="Google Shape;135;p17"/>
          <p:cNvPicPr preferRelativeResize="0"/>
          <p:nvPr/>
        </p:nvPicPr>
        <p:blipFill rotWithShape="1">
          <a:blip r:embed="rId4">
            <a:alphaModFix/>
          </a:blip>
          <a:srcRect b="0" l="0" r="0" t="0"/>
          <a:stretch/>
        </p:blipFill>
        <p:spPr>
          <a:xfrm>
            <a:off x="6286500" y="2600473"/>
            <a:ext cx="5324475" cy="2485727"/>
          </a:xfrm>
          <a:prstGeom prst="rect">
            <a:avLst/>
          </a:prstGeom>
          <a:noFill/>
          <a:ln>
            <a:noFill/>
          </a:ln>
        </p:spPr>
      </p:pic>
      <p:sp>
        <p:nvSpPr>
          <p:cNvPr id="136" name="Google Shape;136;p17"/>
          <p:cNvSpPr txBox="1"/>
          <p:nvPr/>
        </p:nvSpPr>
        <p:spPr>
          <a:xfrm>
            <a:off x="971550" y="3112889"/>
            <a:ext cx="4770596" cy="3333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14B8A6"/>
                </a:solidFill>
                <a:latin typeface="Poppins SemiBold"/>
                <a:ea typeface="Poppins SemiBold"/>
                <a:cs typeface="Poppins SemiBold"/>
                <a:sym typeface="Poppins SemiBold"/>
              </a:rPr>
              <a:t>Signal Strengths</a:t>
            </a:r>
            <a:endParaRPr/>
          </a:p>
        </p:txBody>
      </p:sp>
      <p:sp>
        <p:nvSpPr>
          <p:cNvPr id="137" name="Google Shape;137;p17"/>
          <p:cNvSpPr txBox="1"/>
          <p:nvPr/>
        </p:nvSpPr>
        <p:spPr>
          <a:xfrm>
            <a:off x="971550" y="3598664"/>
            <a:ext cx="4543425" cy="9751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Inter"/>
                <a:ea typeface="Inter"/>
                <a:cs typeface="Inter"/>
                <a:sym typeface="Inter"/>
              </a:rPr>
              <a:t>Weights control how strongly one neuron influences another. They act as the computational synapses inside a network. Higher positive values emphasize critical feature associations, while negative weights actively suppress noise.</a:t>
            </a:r>
            <a:endParaRPr/>
          </a:p>
        </p:txBody>
      </p:sp>
      <p:sp>
        <p:nvSpPr>
          <p:cNvPr id="138" name="Google Shape;138;p17"/>
          <p:cNvSpPr txBox="1"/>
          <p:nvPr/>
        </p:nvSpPr>
        <p:spPr>
          <a:xfrm>
            <a:off x="6677025" y="2990998"/>
            <a:ext cx="4770596" cy="3333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14B8A6"/>
                </a:solidFill>
                <a:latin typeface="Poppins SemiBold"/>
                <a:ea typeface="Poppins SemiBold"/>
                <a:cs typeface="Poppins SemiBold"/>
                <a:sym typeface="Poppins SemiBold"/>
              </a:rPr>
              <a:t>Iterative Optimization</a:t>
            </a:r>
            <a:endParaRPr/>
          </a:p>
        </p:txBody>
      </p:sp>
      <p:sp>
        <p:nvSpPr>
          <p:cNvPr id="139" name="Google Shape;139;p17"/>
          <p:cNvSpPr txBox="1"/>
          <p:nvPr/>
        </p:nvSpPr>
        <p:spPr>
          <a:xfrm>
            <a:off x="6677025" y="3476773"/>
            <a:ext cx="4543425" cy="1218902"/>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Inter"/>
                <a:ea typeface="Inter"/>
                <a:cs typeface="Inter"/>
                <a:sym typeface="Inter"/>
              </a:rPr>
              <a:t>During neural network training, parameters are initialized randomly. The network repeatedly calculates predictions, compares them to truth labels, and updates weight configurations across millions of paths to converge on accuracy.</a:t>
            </a:r>
            <a:endParaRPr/>
          </a:p>
        </p:txBody>
      </p:sp>
      <p:sp>
        <p:nvSpPr>
          <p:cNvPr id="140" name="Google Shape;140;p17"/>
          <p:cNvSpPr txBox="1"/>
          <p:nvPr/>
        </p:nvSpPr>
        <p:spPr>
          <a:xfrm>
            <a:off x="581025" y="581025"/>
            <a:ext cx="11581447" cy="542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F8FAFC"/>
                </a:solidFill>
                <a:latin typeface="Poppins"/>
                <a:ea typeface="Poppins"/>
                <a:cs typeface="Poppins"/>
                <a:sym typeface="Poppins"/>
              </a:rPr>
              <a:t>Weights: Determining Importance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120"/>
        </a:solidFill>
      </p:bgPr>
    </p:bg>
    <p:spTree>
      <p:nvGrpSpPr>
        <p:cNvPr id="144" name="Shape 144"/>
        <p:cNvGrpSpPr/>
        <p:nvPr/>
      </p:nvGrpSpPr>
      <p:grpSpPr>
        <a:xfrm>
          <a:off x="0" y="0"/>
          <a:ext cx="0" cy="0"/>
          <a:chOff x="0" y="0"/>
          <a:chExt cx="0" cy="0"/>
        </a:xfrm>
      </p:grpSpPr>
      <p:pic>
        <p:nvPicPr>
          <p:cNvPr descr="image.png" id="145" name="Google Shape;145;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46" name="Google Shape;146;p18"/>
          <p:cNvPicPr preferRelativeResize="0"/>
          <p:nvPr/>
        </p:nvPicPr>
        <p:blipFill rotWithShape="1">
          <a:blip r:embed="rId4">
            <a:alphaModFix/>
          </a:blip>
          <a:srcRect b="0" l="0" r="0" t="0"/>
          <a:stretch/>
        </p:blipFill>
        <p:spPr>
          <a:xfrm>
            <a:off x="581025" y="2509986"/>
            <a:ext cx="3524250" cy="2666553"/>
          </a:xfrm>
          <a:prstGeom prst="rect">
            <a:avLst/>
          </a:prstGeom>
          <a:noFill/>
          <a:ln>
            <a:noFill/>
          </a:ln>
        </p:spPr>
      </p:pic>
      <p:pic>
        <p:nvPicPr>
          <p:cNvPr descr="image.png" id="147" name="Google Shape;147;p18"/>
          <p:cNvPicPr preferRelativeResize="0"/>
          <p:nvPr/>
        </p:nvPicPr>
        <p:blipFill rotWithShape="1">
          <a:blip r:embed="rId5">
            <a:alphaModFix/>
          </a:blip>
          <a:srcRect b="0" l="0" r="0" t="0"/>
          <a:stretch/>
        </p:blipFill>
        <p:spPr>
          <a:xfrm>
            <a:off x="4333875" y="2509986"/>
            <a:ext cx="3524250" cy="2666553"/>
          </a:xfrm>
          <a:prstGeom prst="rect">
            <a:avLst/>
          </a:prstGeom>
          <a:noFill/>
          <a:ln>
            <a:noFill/>
          </a:ln>
        </p:spPr>
      </p:pic>
      <p:pic>
        <p:nvPicPr>
          <p:cNvPr descr="image.png" id="148" name="Google Shape;148;p18"/>
          <p:cNvPicPr preferRelativeResize="0"/>
          <p:nvPr/>
        </p:nvPicPr>
        <p:blipFill rotWithShape="1">
          <a:blip r:embed="rId6">
            <a:alphaModFix/>
          </a:blip>
          <a:srcRect b="0" l="0" r="0" t="0"/>
          <a:stretch/>
        </p:blipFill>
        <p:spPr>
          <a:xfrm>
            <a:off x="8086725" y="2509986"/>
            <a:ext cx="3524250" cy="2666553"/>
          </a:xfrm>
          <a:prstGeom prst="rect">
            <a:avLst/>
          </a:prstGeom>
          <a:noFill/>
          <a:ln>
            <a:noFill/>
          </a:ln>
        </p:spPr>
      </p:pic>
      <p:sp>
        <p:nvSpPr>
          <p:cNvPr id="149" name="Google Shape;149;p18"/>
          <p:cNvSpPr txBox="1"/>
          <p:nvPr/>
        </p:nvSpPr>
        <p:spPr>
          <a:xfrm>
            <a:off x="876300" y="3414861"/>
            <a:ext cx="3080385"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F8FAFC"/>
                </a:solidFill>
                <a:latin typeface="Poppins SemiBold"/>
                <a:ea typeface="Poppins SemiBold"/>
                <a:cs typeface="Poppins SemiBold"/>
                <a:sym typeface="Poppins SemiBold"/>
              </a:rPr>
              <a:t>Nonlinearity</a:t>
            </a:r>
            <a:endParaRPr/>
          </a:p>
        </p:txBody>
      </p:sp>
      <p:sp>
        <p:nvSpPr>
          <p:cNvPr id="150" name="Google Shape;150;p18"/>
          <p:cNvSpPr txBox="1"/>
          <p:nvPr/>
        </p:nvSpPr>
        <p:spPr>
          <a:xfrm>
            <a:off x="876300" y="3814911"/>
            <a:ext cx="2933700" cy="1066353"/>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050" u="none" cap="none" strike="noStrike">
                <a:solidFill>
                  <a:srgbClr val="94A3B8"/>
                </a:solidFill>
                <a:latin typeface="Inter"/>
                <a:ea typeface="Inter"/>
                <a:cs typeface="Inter"/>
                <a:sym typeface="Inter"/>
              </a:rPr>
              <a:t>Allows neural networks to build curved decision boundaries. Without nonlinearity, deep neural networks collapse mathematically to simple linear equations, preventing them from solving high-complexity tasks.</a:t>
            </a:r>
            <a:endParaRPr/>
          </a:p>
        </p:txBody>
      </p:sp>
      <p:sp>
        <p:nvSpPr>
          <p:cNvPr id="151" name="Google Shape;151;p18"/>
          <p:cNvSpPr txBox="1"/>
          <p:nvPr/>
        </p:nvSpPr>
        <p:spPr>
          <a:xfrm>
            <a:off x="4629150" y="3414861"/>
            <a:ext cx="3080385"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F8FAFC"/>
                </a:solidFill>
                <a:latin typeface="Poppins SemiBold"/>
                <a:ea typeface="Poppins SemiBold"/>
                <a:cs typeface="Poppins SemiBold"/>
                <a:sym typeface="Poppins SemiBold"/>
              </a:rPr>
              <a:t>ReLU Function</a:t>
            </a:r>
            <a:endParaRPr/>
          </a:p>
        </p:txBody>
      </p:sp>
      <p:sp>
        <p:nvSpPr>
          <p:cNvPr id="152" name="Google Shape;152;p18"/>
          <p:cNvSpPr txBox="1"/>
          <p:nvPr/>
        </p:nvSpPr>
        <p:spPr>
          <a:xfrm>
            <a:off x="4629150" y="3814911"/>
            <a:ext cx="2933700" cy="1066353"/>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050" u="none" cap="none" strike="noStrike">
                <a:solidFill>
                  <a:srgbClr val="94A3B8"/>
                </a:solidFill>
                <a:latin typeface="Inter"/>
                <a:ea typeface="Inter"/>
                <a:cs typeface="Inter"/>
                <a:sym typeface="Inter"/>
              </a:rPr>
              <a:t>The standard hidden layer function. It blocks all negative values by outputting zero ($x \le 0 \to 0$) and allows positive values to pass through without modification, solving vanishing gradient problems.</a:t>
            </a:r>
            <a:endParaRPr/>
          </a:p>
        </p:txBody>
      </p:sp>
      <p:sp>
        <p:nvSpPr>
          <p:cNvPr id="153" name="Google Shape;153;p18"/>
          <p:cNvSpPr txBox="1"/>
          <p:nvPr/>
        </p:nvSpPr>
        <p:spPr>
          <a:xfrm>
            <a:off x="8382000" y="3414861"/>
            <a:ext cx="3080385"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F8FAFC"/>
                </a:solidFill>
                <a:latin typeface="Poppins SemiBold"/>
                <a:ea typeface="Poppins SemiBold"/>
                <a:cs typeface="Poppins SemiBold"/>
                <a:sym typeface="Poppins SemiBold"/>
              </a:rPr>
              <a:t>Sigmoid Function</a:t>
            </a:r>
            <a:endParaRPr/>
          </a:p>
        </p:txBody>
      </p:sp>
      <p:sp>
        <p:nvSpPr>
          <p:cNvPr id="154" name="Google Shape;154;p18"/>
          <p:cNvSpPr txBox="1"/>
          <p:nvPr/>
        </p:nvSpPr>
        <p:spPr>
          <a:xfrm>
            <a:off x="8382000" y="3814911"/>
            <a:ext cx="2933700" cy="1066353"/>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050" u="none" cap="none" strike="noStrike">
                <a:solidFill>
                  <a:srgbClr val="94A3B8"/>
                </a:solidFill>
                <a:latin typeface="Inter"/>
                <a:ea typeface="Inter"/>
                <a:cs typeface="Inter"/>
                <a:sym typeface="Inter"/>
              </a:rPr>
              <a:t>Often utilized in classification output layers. It squashes arbitrary numerical inputs into a smooth probability curve constrained strictly between 0 and 1, facilitating reliable confidence output.</a:t>
            </a:r>
            <a:endParaRPr/>
          </a:p>
        </p:txBody>
      </p:sp>
      <p:pic>
        <p:nvPicPr>
          <p:cNvPr descr="image.png" id="155" name="Google Shape;155;p18"/>
          <p:cNvPicPr preferRelativeResize="0"/>
          <p:nvPr/>
        </p:nvPicPr>
        <p:blipFill rotWithShape="1">
          <a:blip r:embed="rId7">
            <a:alphaModFix/>
          </a:blip>
          <a:srcRect b="0" l="0" r="0" t="0"/>
          <a:stretch/>
        </p:blipFill>
        <p:spPr>
          <a:xfrm>
            <a:off x="876300" y="2843361"/>
            <a:ext cx="428625" cy="342900"/>
          </a:xfrm>
          <a:prstGeom prst="rect">
            <a:avLst/>
          </a:prstGeom>
          <a:noFill/>
          <a:ln>
            <a:noFill/>
          </a:ln>
        </p:spPr>
      </p:pic>
      <p:pic>
        <p:nvPicPr>
          <p:cNvPr descr="image.png" id="156" name="Google Shape;156;p18"/>
          <p:cNvPicPr preferRelativeResize="0"/>
          <p:nvPr/>
        </p:nvPicPr>
        <p:blipFill rotWithShape="1">
          <a:blip r:embed="rId8">
            <a:alphaModFix/>
          </a:blip>
          <a:srcRect b="0" l="0" r="0" t="0"/>
          <a:stretch/>
        </p:blipFill>
        <p:spPr>
          <a:xfrm>
            <a:off x="4629150" y="2843361"/>
            <a:ext cx="342900" cy="342900"/>
          </a:xfrm>
          <a:prstGeom prst="rect">
            <a:avLst/>
          </a:prstGeom>
          <a:noFill/>
          <a:ln>
            <a:noFill/>
          </a:ln>
        </p:spPr>
      </p:pic>
      <p:pic>
        <p:nvPicPr>
          <p:cNvPr descr="image.png" id="157" name="Google Shape;157;p18"/>
          <p:cNvPicPr preferRelativeResize="0"/>
          <p:nvPr/>
        </p:nvPicPr>
        <p:blipFill rotWithShape="1">
          <a:blip r:embed="rId9">
            <a:alphaModFix/>
          </a:blip>
          <a:srcRect b="0" l="0" r="0" t="0"/>
          <a:stretch/>
        </p:blipFill>
        <p:spPr>
          <a:xfrm>
            <a:off x="8382000" y="2843361"/>
            <a:ext cx="428625" cy="342900"/>
          </a:xfrm>
          <a:prstGeom prst="rect">
            <a:avLst/>
          </a:prstGeom>
          <a:noFill/>
          <a:ln>
            <a:noFill/>
          </a:ln>
        </p:spPr>
      </p:pic>
      <p:sp>
        <p:nvSpPr>
          <p:cNvPr id="158" name="Google Shape;158;p18"/>
          <p:cNvSpPr txBox="1"/>
          <p:nvPr/>
        </p:nvSpPr>
        <p:spPr>
          <a:xfrm>
            <a:off x="581025" y="581025"/>
            <a:ext cx="11581447" cy="542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F8FAFC"/>
                </a:solidFill>
                <a:latin typeface="Poppins"/>
                <a:ea typeface="Poppins"/>
                <a:cs typeface="Poppins"/>
                <a:sym typeface="Poppins"/>
              </a:rPr>
              <a:t>Activation Functions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120"/>
        </a:solidFill>
      </p:bgPr>
    </p:bg>
    <p:spTree>
      <p:nvGrpSpPr>
        <p:cNvPr id="162" name="Shape 162"/>
        <p:cNvGrpSpPr/>
        <p:nvPr/>
      </p:nvGrpSpPr>
      <p:grpSpPr>
        <a:xfrm>
          <a:off x="0" y="0"/>
          <a:ext cx="0" cy="0"/>
          <a:chOff x="0" y="0"/>
          <a:chExt cx="0" cy="0"/>
        </a:xfrm>
      </p:grpSpPr>
      <p:pic>
        <p:nvPicPr>
          <p:cNvPr descr="image.png" id="163" name="Google Shape;163;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64" name="Google Shape;164;p19"/>
          <p:cNvPicPr preferRelativeResize="0"/>
          <p:nvPr/>
        </p:nvPicPr>
        <p:blipFill rotWithShape="1">
          <a:blip r:embed="rId4">
            <a:alphaModFix/>
          </a:blip>
          <a:srcRect b="0" l="0" r="0" t="0"/>
          <a:stretch/>
        </p:blipFill>
        <p:spPr>
          <a:xfrm>
            <a:off x="581025" y="2722364"/>
            <a:ext cx="5324475" cy="2241946"/>
          </a:xfrm>
          <a:prstGeom prst="rect">
            <a:avLst/>
          </a:prstGeom>
          <a:noFill/>
          <a:ln>
            <a:noFill/>
          </a:ln>
        </p:spPr>
      </p:pic>
      <p:pic>
        <p:nvPicPr>
          <p:cNvPr descr="image.png" id="165" name="Google Shape;165;p19"/>
          <p:cNvPicPr preferRelativeResize="0"/>
          <p:nvPr/>
        </p:nvPicPr>
        <p:blipFill rotWithShape="1">
          <a:blip r:embed="rId4">
            <a:alphaModFix/>
          </a:blip>
          <a:srcRect b="0" l="0" r="0" t="0"/>
          <a:stretch/>
        </p:blipFill>
        <p:spPr>
          <a:xfrm>
            <a:off x="6286500" y="2722364"/>
            <a:ext cx="5324475" cy="2241946"/>
          </a:xfrm>
          <a:prstGeom prst="rect">
            <a:avLst/>
          </a:prstGeom>
          <a:noFill/>
          <a:ln>
            <a:noFill/>
          </a:ln>
        </p:spPr>
      </p:pic>
      <p:sp>
        <p:nvSpPr>
          <p:cNvPr id="166" name="Google Shape;166;p19"/>
          <p:cNvSpPr txBox="1"/>
          <p:nvPr/>
        </p:nvSpPr>
        <p:spPr>
          <a:xfrm>
            <a:off x="971550" y="3112889"/>
            <a:ext cx="4770596" cy="3333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14B8A6"/>
                </a:solidFill>
                <a:latin typeface="Poppins SemiBold"/>
                <a:ea typeface="Poppins SemiBold"/>
                <a:cs typeface="Poppins SemiBold"/>
                <a:sym typeface="Poppins SemiBold"/>
              </a:rPr>
              <a:t>The Error Metric</a:t>
            </a:r>
            <a:endParaRPr/>
          </a:p>
        </p:txBody>
      </p:sp>
      <p:sp>
        <p:nvSpPr>
          <p:cNvPr id="167" name="Google Shape;167;p19"/>
          <p:cNvSpPr txBox="1"/>
          <p:nvPr/>
        </p:nvSpPr>
        <p:spPr>
          <a:xfrm>
            <a:off x="971550" y="3598664"/>
            <a:ext cx="4543425" cy="9751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Inter"/>
                <a:ea typeface="Inter"/>
                <a:cs typeface="Inter"/>
                <a:sym typeface="Inter"/>
              </a:rPr>
              <a:t>Loss functions calculate how far model predictions deviate from actual truth data. This metric assigns a single, quantifiable cost score representing overall failure level, which guides standard training routines.</a:t>
            </a:r>
            <a:endParaRPr/>
          </a:p>
        </p:txBody>
      </p:sp>
      <p:sp>
        <p:nvSpPr>
          <p:cNvPr id="168" name="Google Shape;168;p19"/>
          <p:cNvSpPr txBox="1"/>
          <p:nvPr/>
        </p:nvSpPr>
        <p:spPr>
          <a:xfrm>
            <a:off x="6677025" y="3112889"/>
            <a:ext cx="4770596" cy="3333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14B8A6"/>
                </a:solidFill>
                <a:latin typeface="Poppins SemiBold"/>
                <a:ea typeface="Poppins SemiBold"/>
                <a:cs typeface="Poppins SemiBold"/>
                <a:sym typeface="Poppins SemiBold"/>
              </a:rPr>
              <a:t>The Objective Function</a:t>
            </a:r>
            <a:endParaRPr/>
          </a:p>
        </p:txBody>
      </p:sp>
      <p:sp>
        <p:nvSpPr>
          <p:cNvPr id="169" name="Google Shape;169;p19"/>
          <p:cNvSpPr txBox="1"/>
          <p:nvPr/>
        </p:nvSpPr>
        <p:spPr>
          <a:xfrm>
            <a:off x="6677025" y="3598664"/>
            <a:ext cx="4543425" cy="9751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Inter"/>
                <a:ea typeface="Inter"/>
                <a:cs typeface="Inter"/>
                <a:sym typeface="Inter"/>
              </a:rPr>
              <a:t>The overall goal of learning algorithms is to adjust network weights and biases until the calculated loss is as close to zero as mathematically possible. Lower loss numbers signify more precise predictions.</a:t>
            </a:r>
            <a:endParaRPr/>
          </a:p>
        </p:txBody>
      </p:sp>
      <p:sp>
        <p:nvSpPr>
          <p:cNvPr id="170" name="Google Shape;170;p19"/>
          <p:cNvSpPr txBox="1"/>
          <p:nvPr/>
        </p:nvSpPr>
        <p:spPr>
          <a:xfrm>
            <a:off x="581025" y="581025"/>
            <a:ext cx="11581447" cy="542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F8FAFC"/>
                </a:solidFill>
                <a:latin typeface="Poppins"/>
                <a:ea typeface="Poppins"/>
                <a:cs typeface="Poppins"/>
                <a:sym typeface="Poppins"/>
              </a:rPr>
              <a:t>Loss Functions: Measuring Error</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120"/>
        </a:solidFill>
      </p:bgPr>
    </p:bg>
    <p:spTree>
      <p:nvGrpSpPr>
        <p:cNvPr id="174" name="Shape 174"/>
        <p:cNvGrpSpPr/>
        <p:nvPr/>
      </p:nvGrpSpPr>
      <p:grpSpPr>
        <a:xfrm>
          <a:off x="0" y="0"/>
          <a:ext cx="0" cy="0"/>
          <a:chOff x="0" y="0"/>
          <a:chExt cx="0" cy="0"/>
        </a:xfrm>
      </p:grpSpPr>
      <p:pic>
        <p:nvPicPr>
          <p:cNvPr descr="image.png" id="175" name="Google Shape;175;p2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76" name="Google Shape;176;p20"/>
          <p:cNvPicPr preferRelativeResize="0"/>
          <p:nvPr/>
        </p:nvPicPr>
        <p:blipFill rotWithShape="1">
          <a:blip r:embed="rId4">
            <a:alphaModFix/>
          </a:blip>
          <a:srcRect b="0" l="0" r="0" t="0"/>
          <a:stretch/>
        </p:blipFill>
        <p:spPr>
          <a:xfrm>
            <a:off x="581025" y="2509986"/>
            <a:ext cx="3524250" cy="2666553"/>
          </a:xfrm>
          <a:prstGeom prst="rect">
            <a:avLst/>
          </a:prstGeom>
          <a:noFill/>
          <a:ln>
            <a:noFill/>
          </a:ln>
        </p:spPr>
      </p:pic>
      <p:pic>
        <p:nvPicPr>
          <p:cNvPr descr="image.png" id="177" name="Google Shape;177;p20"/>
          <p:cNvPicPr preferRelativeResize="0"/>
          <p:nvPr/>
        </p:nvPicPr>
        <p:blipFill rotWithShape="1">
          <a:blip r:embed="rId5">
            <a:alphaModFix/>
          </a:blip>
          <a:srcRect b="0" l="0" r="0" t="0"/>
          <a:stretch/>
        </p:blipFill>
        <p:spPr>
          <a:xfrm>
            <a:off x="4333875" y="2509986"/>
            <a:ext cx="3524250" cy="2666553"/>
          </a:xfrm>
          <a:prstGeom prst="rect">
            <a:avLst/>
          </a:prstGeom>
          <a:noFill/>
          <a:ln>
            <a:noFill/>
          </a:ln>
        </p:spPr>
      </p:pic>
      <p:pic>
        <p:nvPicPr>
          <p:cNvPr descr="image.png" id="178" name="Google Shape;178;p20"/>
          <p:cNvPicPr preferRelativeResize="0"/>
          <p:nvPr/>
        </p:nvPicPr>
        <p:blipFill rotWithShape="1">
          <a:blip r:embed="rId6">
            <a:alphaModFix/>
          </a:blip>
          <a:srcRect b="0" l="0" r="0" t="0"/>
          <a:stretch/>
        </p:blipFill>
        <p:spPr>
          <a:xfrm>
            <a:off x="8086725" y="2509986"/>
            <a:ext cx="3524250" cy="2666553"/>
          </a:xfrm>
          <a:prstGeom prst="rect">
            <a:avLst/>
          </a:prstGeom>
          <a:noFill/>
          <a:ln>
            <a:noFill/>
          </a:ln>
        </p:spPr>
      </p:pic>
      <p:sp>
        <p:nvSpPr>
          <p:cNvPr id="179" name="Google Shape;179;p20"/>
          <p:cNvSpPr txBox="1"/>
          <p:nvPr/>
        </p:nvSpPr>
        <p:spPr>
          <a:xfrm>
            <a:off x="876300" y="3414861"/>
            <a:ext cx="3080385"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F8FAFC"/>
                </a:solidFill>
                <a:latin typeface="Poppins SemiBold"/>
                <a:ea typeface="Poppins SemiBold"/>
                <a:cs typeface="Poppins SemiBold"/>
                <a:sym typeface="Poppins SemiBold"/>
              </a:rPr>
              <a:t>Gradient Descent</a:t>
            </a:r>
            <a:endParaRPr/>
          </a:p>
        </p:txBody>
      </p:sp>
      <p:sp>
        <p:nvSpPr>
          <p:cNvPr id="180" name="Google Shape;180;p20"/>
          <p:cNvSpPr txBox="1"/>
          <p:nvPr/>
        </p:nvSpPr>
        <p:spPr>
          <a:xfrm>
            <a:off x="876300" y="3814911"/>
            <a:ext cx="2933700" cy="853082"/>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050" u="none" cap="none" strike="noStrike">
                <a:solidFill>
                  <a:srgbClr val="94A3B8"/>
                </a:solidFill>
                <a:latin typeface="Inter"/>
                <a:ea typeface="Inter"/>
                <a:cs typeface="Inter"/>
                <a:sym typeface="Inter"/>
              </a:rPr>
              <a:t>Calculates the slope of the error curve and adjusts parameters in the downward direction. This allows the network to systematically seek the lowest point of total loss.</a:t>
            </a:r>
            <a:endParaRPr/>
          </a:p>
        </p:txBody>
      </p:sp>
      <p:sp>
        <p:nvSpPr>
          <p:cNvPr id="181" name="Google Shape;181;p20"/>
          <p:cNvSpPr txBox="1"/>
          <p:nvPr/>
        </p:nvSpPr>
        <p:spPr>
          <a:xfrm>
            <a:off x="4629150" y="3414861"/>
            <a:ext cx="3080385"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F8FAFC"/>
                </a:solidFill>
                <a:latin typeface="Poppins SemiBold"/>
                <a:ea typeface="Poppins SemiBold"/>
                <a:cs typeface="Poppins SemiBold"/>
                <a:sym typeface="Poppins SemiBold"/>
              </a:rPr>
              <a:t>Adam Optimizer</a:t>
            </a:r>
            <a:endParaRPr/>
          </a:p>
        </p:txBody>
      </p:sp>
      <p:sp>
        <p:nvSpPr>
          <p:cNvPr id="182" name="Google Shape;182;p20"/>
          <p:cNvSpPr txBox="1"/>
          <p:nvPr/>
        </p:nvSpPr>
        <p:spPr>
          <a:xfrm>
            <a:off x="4629150" y="3814911"/>
            <a:ext cx="2933700" cy="1066353"/>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050" u="none" cap="none" strike="noStrike">
                <a:solidFill>
                  <a:srgbClr val="94A3B8"/>
                </a:solidFill>
                <a:latin typeface="Inter"/>
                <a:ea typeface="Inter"/>
                <a:cs typeface="Inter"/>
                <a:sym typeface="Inter"/>
              </a:rPr>
              <a:t>An adaptive optimization framework that calculates custom, varying step sizes for individual parameters. This accelerates learning and prevents model convergence stalling.</a:t>
            </a:r>
            <a:endParaRPr/>
          </a:p>
        </p:txBody>
      </p:sp>
      <p:sp>
        <p:nvSpPr>
          <p:cNvPr id="183" name="Google Shape;183;p20"/>
          <p:cNvSpPr txBox="1"/>
          <p:nvPr/>
        </p:nvSpPr>
        <p:spPr>
          <a:xfrm>
            <a:off x="8382000" y="3414861"/>
            <a:ext cx="3080385"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F8FAFC"/>
                </a:solidFill>
                <a:latin typeface="Poppins SemiBold"/>
                <a:ea typeface="Poppins SemiBold"/>
                <a:cs typeface="Poppins SemiBold"/>
                <a:sym typeface="Poppins SemiBold"/>
              </a:rPr>
              <a:t>Feedback Loops</a:t>
            </a:r>
            <a:endParaRPr/>
          </a:p>
        </p:txBody>
      </p:sp>
      <p:sp>
        <p:nvSpPr>
          <p:cNvPr id="184" name="Google Shape;184;p20"/>
          <p:cNvSpPr txBox="1"/>
          <p:nvPr/>
        </p:nvSpPr>
        <p:spPr>
          <a:xfrm>
            <a:off x="8382000" y="3814911"/>
            <a:ext cx="2933700" cy="1066353"/>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050" u="none" cap="none" strike="noStrike">
                <a:solidFill>
                  <a:srgbClr val="94A3B8"/>
                </a:solidFill>
                <a:latin typeface="Inter"/>
                <a:ea typeface="Inter"/>
                <a:cs typeface="Inter"/>
                <a:sym typeface="Inter"/>
              </a:rPr>
              <a:t>Through backpropagation, optimizers efficiently route mathematical derivatives backwards from output nodes to early input channels, seamlessly calibrating modern deep learning layers.</a:t>
            </a:r>
            <a:endParaRPr/>
          </a:p>
        </p:txBody>
      </p:sp>
      <p:pic>
        <p:nvPicPr>
          <p:cNvPr descr="image.png" id="185" name="Google Shape;185;p20"/>
          <p:cNvPicPr preferRelativeResize="0"/>
          <p:nvPr/>
        </p:nvPicPr>
        <p:blipFill rotWithShape="1">
          <a:blip r:embed="rId7">
            <a:alphaModFix/>
          </a:blip>
          <a:srcRect b="0" l="0" r="0" t="0"/>
          <a:stretch/>
        </p:blipFill>
        <p:spPr>
          <a:xfrm>
            <a:off x="876300" y="2843361"/>
            <a:ext cx="390525" cy="342900"/>
          </a:xfrm>
          <a:prstGeom prst="rect">
            <a:avLst/>
          </a:prstGeom>
          <a:noFill/>
          <a:ln>
            <a:noFill/>
          </a:ln>
        </p:spPr>
      </p:pic>
      <p:pic>
        <p:nvPicPr>
          <p:cNvPr descr="image.png" id="186" name="Google Shape;186;p20"/>
          <p:cNvPicPr preferRelativeResize="0"/>
          <p:nvPr/>
        </p:nvPicPr>
        <p:blipFill rotWithShape="1">
          <a:blip r:embed="rId8">
            <a:alphaModFix/>
          </a:blip>
          <a:srcRect b="0" l="0" r="0" t="0"/>
          <a:stretch/>
        </p:blipFill>
        <p:spPr>
          <a:xfrm>
            <a:off x="4629150" y="2843361"/>
            <a:ext cx="304800" cy="342900"/>
          </a:xfrm>
          <a:prstGeom prst="rect">
            <a:avLst/>
          </a:prstGeom>
          <a:noFill/>
          <a:ln>
            <a:noFill/>
          </a:ln>
        </p:spPr>
      </p:pic>
      <p:pic>
        <p:nvPicPr>
          <p:cNvPr descr="image.png" id="187" name="Google Shape;187;p20"/>
          <p:cNvPicPr preferRelativeResize="0"/>
          <p:nvPr/>
        </p:nvPicPr>
        <p:blipFill rotWithShape="1">
          <a:blip r:embed="rId9">
            <a:alphaModFix/>
          </a:blip>
          <a:srcRect b="0" l="0" r="0" t="0"/>
          <a:stretch/>
        </p:blipFill>
        <p:spPr>
          <a:xfrm>
            <a:off x="8382000" y="2843361"/>
            <a:ext cx="342900" cy="342900"/>
          </a:xfrm>
          <a:prstGeom prst="rect">
            <a:avLst/>
          </a:prstGeom>
          <a:noFill/>
          <a:ln>
            <a:noFill/>
          </a:ln>
        </p:spPr>
      </p:pic>
      <p:sp>
        <p:nvSpPr>
          <p:cNvPr id="188" name="Google Shape;188;p20"/>
          <p:cNvSpPr txBox="1"/>
          <p:nvPr/>
        </p:nvSpPr>
        <p:spPr>
          <a:xfrm>
            <a:off x="581025" y="581025"/>
            <a:ext cx="11581447" cy="542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F8FAFC"/>
                </a:solidFill>
                <a:latin typeface="Poppins"/>
                <a:ea typeface="Poppins"/>
                <a:cs typeface="Poppins"/>
                <a:sym typeface="Poppins"/>
              </a:rPr>
              <a:t>Optimization Algorithms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120"/>
        </a:solidFill>
      </p:bgPr>
    </p:bg>
    <p:spTree>
      <p:nvGrpSpPr>
        <p:cNvPr id="192" name="Shape 192"/>
        <p:cNvGrpSpPr/>
        <p:nvPr/>
      </p:nvGrpSpPr>
      <p:grpSpPr>
        <a:xfrm>
          <a:off x="0" y="0"/>
          <a:ext cx="0" cy="0"/>
          <a:chOff x="0" y="0"/>
          <a:chExt cx="0" cy="0"/>
        </a:xfrm>
      </p:grpSpPr>
      <p:pic>
        <p:nvPicPr>
          <p:cNvPr descr="image.png" id="193" name="Google Shape;193;p2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94" name="Google Shape;194;p21"/>
          <p:cNvSpPr txBox="1"/>
          <p:nvPr/>
        </p:nvSpPr>
        <p:spPr>
          <a:xfrm>
            <a:off x="581025" y="581025"/>
            <a:ext cx="5790723" cy="542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F8FAFC"/>
                </a:solidFill>
                <a:latin typeface="Poppins"/>
                <a:ea typeface="Poppins"/>
                <a:cs typeface="Poppins"/>
                <a:sym typeface="Poppins"/>
              </a:rPr>
              <a:t>Network Architecture Flow</a:t>
            </a:r>
            <a:endParaRPr/>
          </a:p>
        </p:txBody>
      </p:sp>
      <p:pic>
        <p:nvPicPr>
          <p:cNvPr descr="image.png" id="195" name="Google Shape;195;p21"/>
          <p:cNvPicPr preferRelativeResize="0"/>
          <p:nvPr/>
        </p:nvPicPr>
        <p:blipFill rotWithShape="1">
          <a:blip r:embed="rId4">
            <a:alphaModFix/>
          </a:blip>
          <a:srcRect b="0" l="0" r="0" t="0"/>
          <a:stretch/>
        </p:blipFill>
        <p:spPr>
          <a:xfrm>
            <a:off x="6096000" y="9525"/>
            <a:ext cx="6086475" cy="6858000"/>
          </a:xfrm>
          <a:prstGeom prst="rect">
            <a:avLst/>
          </a:prstGeom>
          <a:noFill/>
          <a:ln>
            <a:noFill/>
          </a:ln>
        </p:spPr>
      </p:pic>
      <p:sp>
        <p:nvSpPr>
          <p:cNvPr id="196" name="Google Shape;196;p21"/>
          <p:cNvSpPr txBox="1"/>
          <p:nvPr/>
        </p:nvSpPr>
        <p:spPr>
          <a:xfrm>
            <a:off x="581025" y="3098601"/>
            <a:ext cx="5790723" cy="371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14B8A6"/>
                </a:solidFill>
                <a:latin typeface="Poppins"/>
                <a:ea typeface="Poppins"/>
                <a:cs typeface="Poppins"/>
                <a:sym typeface="Poppins"/>
              </a:rPr>
              <a:t>Structured Connectivity</a:t>
            </a:r>
            <a:endParaRPr/>
          </a:p>
        </p:txBody>
      </p:sp>
      <p:sp>
        <p:nvSpPr>
          <p:cNvPr id="197" name="Google Shape;197;p21"/>
          <p:cNvSpPr txBox="1"/>
          <p:nvPr/>
        </p:nvSpPr>
        <p:spPr>
          <a:xfrm>
            <a:off x="581025" y="3612951"/>
            <a:ext cx="5514975" cy="4875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Inter"/>
                <a:ea typeface="Inter"/>
                <a:cs typeface="Inter"/>
                <a:sym typeface="Inter"/>
              </a:rPr>
              <a:t>Data flows from the input layer through hidden layers where patterns are learned before reaching the output layer.</a:t>
            </a:r>
            <a:endParaRPr/>
          </a:p>
        </p:txBody>
      </p:sp>
      <p:sp>
        <p:nvSpPr>
          <p:cNvPr id="198" name="Google Shape;198;p21"/>
          <p:cNvSpPr txBox="1"/>
          <p:nvPr/>
        </p:nvSpPr>
        <p:spPr>
          <a:xfrm>
            <a:off x="581025" y="4100512"/>
            <a:ext cx="5514975" cy="4875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Inter"/>
                <a:ea typeface="Inter"/>
                <a:cs typeface="Inter"/>
                <a:sym typeface="Inter"/>
              </a:rPr>
              <a:t>Interconnected layer designs allow deep neural models to discover nested visual, linguistic, and behavioral associations.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120"/>
        </a:solidFill>
      </p:bgPr>
    </p:bg>
    <p:spTree>
      <p:nvGrpSpPr>
        <p:cNvPr id="202" name="Shape 202"/>
        <p:cNvGrpSpPr/>
        <p:nvPr/>
      </p:nvGrpSpPr>
      <p:grpSpPr>
        <a:xfrm>
          <a:off x="0" y="0"/>
          <a:ext cx="0" cy="0"/>
          <a:chOff x="0" y="0"/>
          <a:chExt cx="0" cy="0"/>
        </a:xfrm>
      </p:grpSpPr>
      <p:pic>
        <p:nvPicPr>
          <p:cNvPr descr="image.png" id="203" name="Google Shape;203;p2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04" name="Google Shape;204;p22"/>
          <p:cNvPicPr preferRelativeResize="0"/>
          <p:nvPr/>
        </p:nvPicPr>
        <p:blipFill rotWithShape="1">
          <a:blip r:embed="rId4">
            <a:alphaModFix/>
          </a:blip>
          <a:srcRect b="0" l="0" r="0" t="0"/>
          <a:stretch/>
        </p:blipFill>
        <p:spPr>
          <a:xfrm>
            <a:off x="581025" y="2600473"/>
            <a:ext cx="5324475" cy="2485727"/>
          </a:xfrm>
          <a:prstGeom prst="rect">
            <a:avLst/>
          </a:prstGeom>
          <a:noFill/>
          <a:ln>
            <a:noFill/>
          </a:ln>
        </p:spPr>
      </p:pic>
      <p:pic>
        <p:nvPicPr>
          <p:cNvPr descr="image.png" id="205" name="Google Shape;205;p22"/>
          <p:cNvPicPr preferRelativeResize="0"/>
          <p:nvPr/>
        </p:nvPicPr>
        <p:blipFill rotWithShape="1">
          <a:blip r:embed="rId4">
            <a:alphaModFix/>
          </a:blip>
          <a:srcRect b="0" l="0" r="0" t="0"/>
          <a:stretch/>
        </p:blipFill>
        <p:spPr>
          <a:xfrm>
            <a:off x="6286500" y="2600473"/>
            <a:ext cx="5324475" cy="2485727"/>
          </a:xfrm>
          <a:prstGeom prst="rect">
            <a:avLst/>
          </a:prstGeom>
          <a:noFill/>
          <a:ln>
            <a:noFill/>
          </a:ln>
        </p:spPr>
      </p:pic>
      <p:sp>
        <p:nvSpPr>
          <p:cNvPr id="206" name="Google Shape;206;p22"/>
          <p:cNvSpPr txBox="1"/>
          <p:nvPr/>
        </p:nvSpPr>
        <p:spPr>
          <a:xfrm>
            <a:off x="971550" y="3112889"/>
            <a:ext cx="4770596" cy="3333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14B8A6"/>
                </a:solidFill>
                <a:latin typeface="Poppins SemiBold"/>
                <a:ea typeface="Poppins SemiBold"/>
                <a:cs typeface="Poppins SemiBold"/>
                <a:sym typeface="Poppins SemiBold"/>
              </a:rPr>
              <a:t>Foundational Concepts</a:t>
            </a:r>
            <a:endParaRPr/>
          </a:p>
        </p:txBody>
      </p:sp>
      <p:sp>
        <p:nvSpPr>
          <p:cNvPr id="207" name="Google Shape;207;p22"/>
          <p:cNvSpPr txBox="1"/>
          <p:nvPr/>
        </p:nvSpPr>
        <p:spPr>
          <a:xfrm>
            <a:off x="971550" y="3598664"/>
            <a:ext cx="4543425" cy="9751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Inter"/>
                <a:ea typeface="Inter"/>
                <a:cs typeface="Inter"/>
                <a:sym typeface="Inter"/>
              </a:rPr>
              <a:t>Developing neural network architectures is a balancing act. Correctly tuning layers, weights, biases, activations, and optimizers transforms chaotic raw inputs into highly accurate predictive intelligence models.</a:t>
            </a:r>
            <a:endParaRPr/>
          </a:p>
        </p:txBody>
      </p:sp>
      <p:sp>
        <p:nvSpPr>
          <p:cNvPr id="208" name="Google Shape;208;p22"/>
          <p:cNvSpPr txBox="1"/>
          <p:nvPr/>
        </p:nvSpPr>
        <p:spPr>
          <a:xfrm>
            <a:off x="6677025" y="2990998"/>
            <a:ext cx="4770596" cy="3333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14B8A6"/>
                </a:solidFill>
                <a:latin typeface="Poppins SemiBold"/>
                <a:ea typeface="Poppins SemiBold"/>
                <a:cs typeface="Poppins SemiBold"/>
                <a:sym typeface="Poppins SemiBold"/>
              </a:rPr>
              <a:t>Personal Learnings</a:t>
            </a:r>
            <a:endParaRPr/>
          </a:p>
        </p:txBody>
      </p:sp>
      <p:sp>
        <p:nvSpPr>
          <p:cNvPr id="209" name="Google Shape;209;p22"/>
          <p:cNvSpPr txBox="1"/>
          <p:nvPr/>
        </p:nvSpPr>
        <p:spPr>
          <a:xfrm>
            <a:off x="6677025" y="3476773"/>
            <a:ext cx="4543425" cy="1218902"/>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Inter"/>
                <a:ea typeface="Inter"/>
                <a:cs typeface="Inter"/>
                <a:sym typeface="Inter"/>
              </a:rPr>
              <a:t>Exploring systems like the TensorFlow Playground demonstrates that deep learning elements are highly dependent: tweaking learning rates, background noise levels, and hidden layer configurations dictate the model's ultimate success.</a:t>
            </a:r>
            <a:endParaRPr/>
          </a:p>
        </p:txBody>
      </p:sp>
      <p:sp>
        <p:nvSpPr>
          <p:cNvPr id="210" name="Google Shape;210;p22"/>
          <p:cNvSpPr txBox="1"/>
          <p:nvPr/>
        </p:nvSpPr>
        <p:spPr>
          <a:xfrm>
            <a:off x="581025" y="581025"/>
            <a:ext cx="11581447" cy="542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F8FAFC"/>
                </a:solidFill>
                <a:latin typeface="Poppins"/>
                <a:ea typeface="Poppins"/>
                <a:cs typeface="Poppins"/>
                <a:sym typeface="Poppins"/>
              </a:rPr>
              <a:t>Summary and Key Takeaways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120"/>
        </a:solidFill>
      </p:bgPr>
    </p:bg>
    <p:spTree>
      <p:nvGrpSpPr>
        <p:cNvPr id="214" name="Shape 214"/>
        <p:cNvGrpSpPr/>
        <p:nvPr/>
      </p:nvGrpSpPr>
      <p:grpSpPr>
        <a:xfrm>
          <a:off x="0" y="0"/>
          <a:ext cx="0" cy="0"/>
          <a:chOff x="0" y="0"/>
          <a:chExt cx="0" cy="0"/>
        </a:xfrm>
      </p:grpSpPr>
      <p:pic>
        <p:nvPicPr>
          <p:cNvPr descr="image.png" id="215" name="Google Shape;215;p2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16" name="Google Shape;216;p23"/>
          <p:cNvSpPr/>
          <p:nvPr/>
        </p:nvSpPr>
        <p:spPr>
          <a:xfrm>
            <a:off x="581025" y="2690812"/>
            <a:ext cx="11029950" cy="7715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7" name="Google Shape;217;p23"/>
          <p:cNvSpPr/>
          <p:nvPr/>
        </p:nvSpPr>
        <p:spPr>
          <a:xfrm>
            <a:off x="581025" y="3462337"/>
            <a:ext cx="11029950" cy="7715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8" name="Google Shape;218;p23"/>
          <p:cNvSpPr/>
          <p:nvPr/>
        </p:nvSpPr>
        <p:spPr>
          <a:xfrm>
            <a:off x="581025" y="3452812"/>
            <a:ext cx="1102995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9" name="Google Shape;219;p23"/>
          <p:cNvSpPr/>
          <p:nvPr/>
        </p:nvSpPr>
        <p:spPr>
          <a:xfrm>
            <a:off x="581025" y="3452812"/>
            <a:ext cx="1102995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0" name="Google Shape;220;p23"/>
          <p:cNvSpPr/>
          <p:nvPr/>
        </p:nvSpPr>
        <p:spPr>
          <a:xfrm>
            <a:off x="581025" y="4224337"/>
            <a:ext cx="1102995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1" name="Google Shape;221;p23"/>
          <p:cNvSpPr/>
          <p:nvPr/>
        </p:nvSpPr>
        <p:spPr>
          <a:xfrm>
            <a:off x="581025" y="4224337"/>
            <a:ext cx="1102995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22" name="Google Shape;222;p23"/>
          <p:cNvPicPr preferRelativeResize="0"/>
          <p:nvPr/>
        </p:nvPicPr>
        <p:blipFill rotWithShape="1">
          <a:blip r:embed="rId4">
            <a:alphaModFix/>
          </a:blip>
          <a:srcRect b="0" l="0" r="0" t="0"/>
          <a:stretch/>
        </p:blipFill>
        <p:spPr>
          <a:xfrm>
            <a:off x="581025" y="2833687"/>
            <a:ext cx="857250" cy="476250"/>
          </a:xfrm>
          <a:prstGeom prst="rect">
            <a:avLst/>
          </a:prstGeom>
          <a:noFill/>
          <a:ln>
            <a:noFill/>
          </a:ln>
        </p:spPr>
      </p:pic>
      <p:sp>
        <p:nvSpPr>
          <p:cNvPr id="223" name="Google Shape;223;p23"/>
          <p:cNvSpPr txBox="1"/>
          <p:nvPr/>
        </p:nvSpPr>
        <p:spPr>
          <a:xfrm>
            <a:off x="1676400" y="2876550"/>
            <a:ext cx="9934575"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75" u="none" cap="none" strike="noStrike">
                <a:solidFill>
                  <a:srgbClr val="94A3B8"/>
                </a:solidFill>
                <a:latin typeface="Inter"/>
                <a:ea typeface="Inter"/>
                <a:cs typeface="Inter"/>
                <a:sym typeface="Inter"/>
              </a:rPr>
              <a:t>https://ik.imagekit.io/upgrad1/abroad-images/imageCompo/images/ChatGPT_Image_Nov_20_2025_03_47_56_PMTT18DE.png</a:t>
            </a:r>
            <a:endParaRPr/>
          </a:p>
        </p:txBody>
      </p:sp>
      <p:sp>
        <p:nvSpPr>
          <p:cNvPr id="224" name="Google Shape;224;p23"/>
          <p:cNvSpPr txBox="1"/>
          <p:nvPr/>
        </p:nvSpPr>
        <p:spPr>
          <a:xfrm>
            <a:off x="1676400" y="3076575"/>
            <a:ext cx="9934575" cy="190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94A3B8"/>
                </a:solidFill>
                <a:latin typeface="Inter"/>
                <a:ea typeface="Inter"/>
                <a:cs typeface="Inter"/>
                <a:sym typeface="Inter"/>
              </a:rPr>
              <a:t>Source: </a:t>
            </a:r>
            <a:r>
              <a:rPr b="0" i="0" lang="en-US" sz="1200" u="none" cap="none" strike="noStrike">
                <a:solidFill>
                  <a:srgbClr val="4F46E5"/>
                </a:solidFill>
                <a:latin typeface="Inter"/>
                <a:ea typeface="Inter"/>
                <a:cs typeface="Inter"/>
                <a:sym typeface="Inter"/>
              </a:rPr>
              <a:t>www.upgrad.com</a:t>
            </a:r>
            <a:endParaRPr/>
          </a:p>
        </p:txBody>
      </p:sp>
      <p:pic>
        <p:nvPicPr>
          <p:cNvPr descr="image.png" id="225" name="Google Shape;225;p23"/>
          <p:cNvPicPr preferRelativeResize="0"/>
          <p:nvPr/>
        </p:nvPicPr>
        <p:blipFill rotWithShape="1">
          <a:blip r:embed="rId5">
            <a:alphaModFix/>
          </a:blip>
          <a:srcRect b="0" l="0" r="0" t="0"/>
          <a:stretch/>
        </p:blipFill>
        <p:spPr>
          <a:xfrm>
            <a:off x="581025" y="3605212"/>
            <a:ext cx="857250" cy="476250"/>
          </a:xfrm>
          <a:prstGeom prst="rect">
            <a:avLst/>
          </a:prstGeom>
          <a:noFill/>
          <a:ln>
            <a:noFill/>
          </a:ln>
        </p:spPr>
      </p:pic>
      <p:sp>
        <p:nvSpPr>
          <p:cNvPr id="226" name="Google Shape;226;p23"/>
          <p:cNvSpPr txBox="1"/>
          <p:nvPr/>
        </p:nvSpPr>
        <p:spPr>
          <a:xfrm>
            <a:off x="1676400" y="3648075"/>
            <a:ext cx="9934575"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75" u="none" cap="none" strike="noStrike">
                <a:solidFill>
                  <a:srgbClr val="94A3B8"/>
                </a:solidFill>
                <a:latin typeface="Inter"/>
                <a:ea typeface="Inter"/>
                <a:cs typeface="Inter"/>
                <a:sym typeface="Inter"/>
              </a:rPr>
              <a:t>https://trivenisiteasset.blob.core.windows.net/trivenisiteasset-container/2021/10/ann.png</a:t>
            </a:r>
            <a:endParaRPr/>
          </a:p>
        </p:txBody>
      </p:sp>
      <p:sp>
        <p:nvSpPr>
          <p:cNvPr id="227" name="Google Shape;227;p23"/>
          <p:cNvSpPr txBox="1"/>
          <p:nvPr/>
        </p:nvSpPr>
        <p:spPr>
          <a:xfrm>
            <a:off x="1676400" y="3848100"/>
            <a:ext cx="9934575" cy="190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94A3B8"/>
                </a:solidFill>
                <a:latin typeface="Inter"/>
                <a:ea typeface="Inter"/>
                <a:cs typeface="Inter"/>
                <a:sym typeface="Inter"/>
              </a:rPr>
              <a:t>Source: </a:t>
            </a:r>
            <a:r>
              <a:rPr b="0" i="0" lang="en-US" sz="1200" u="none" cap="none" strike="noStrike">
                <a:solidFill>
                  <a:srgbClr val="4F46E5"/>
                </a:solidFill>
                <a:latin typeface="Inter"/>
                <a:ea typeface="Inter"/>
                <a:cs typeface="Inter"/>
                <a:sym typeface="Inter"/>
              </a:rPr>
              <a:t>triveniglobalsoft.com</a:t>
            </a:r>
            <a:endParaRPr/>
          </a:p>
        </p:txBody>
      </p:sp>
      <p:pic>
        <p:nvPicPr>
          <p:cNvPr descr="image.png" id="228" name="Google Shape;228;p23"/>
          <p:cNvPicPr preferRelativeResize="0"/>
          <p:nvPr/>
        </p:nvPicPr>
        <p:blipFill rotWithShape="1">
          <a:blip r:embed="rId6">
            <a:alphaModFix/>
          </a:blip>
          <a:srcRect b="0" l="0" r="0" t="0"/>
          <a:stretch/>
        </p:blipFill>
        <p:spPr>
          <a:xfrm>
            <a:off x="581025" y="4376737"/>
            <a:ext cx="857250" cy="476250"/>
          </a:xfrm>
          <a:prstGeom prst="rect">
            <a:avLst/>
          </a:prstGeom>
          <a:noFill/>
          <a:ln>
            <a:noFill/>
          </a:ln>
        </p:spPr>
      </p:pic>
      <p:sp>
        <p:nvSpPr>
          <p:cNvPr id="229" name="Google Shape;229;p23"/>
          <p:cNvSpPr txBox="1"/>
          <p:nvPr/>
        </p:nvSpPr>
        <p:spPr>
          <a:xfrm>
            <a:off x="1676400" y="4419600"/>
            <a:ext cx="9934575"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75" u="none" cap="none" strike="noStrike">
                <a:solidFill>
                  <a:srgbClr val="94A3B8"/>
                </a:solidFill>
                <a:latin typeface="Inter"/>
                <a:ea typeface="Inter"/>
                <a:cs typeface="Inter"/>
                <a:sym typeface="Inter"/>
              </a:rPr>
              <a:t>https://media.geeksforgeeks.org/wp-content/uploads/20200527173723/e34.png</a:t>
            </a:r>
            <a:endParaRPr/>
          </a:p>
        </p:txBody>
      </p:sp>
      <p:sp>
        <p:nvSpPr>
          <p:cNvPr id="230" name="Google Shape;230;p23"/>
          <p:cNvSpPr txBox="1"/>
          <p:nvPr/>
        </p:nvSpPr>
        <p:spPr>
          <a:xfrm>
            <a:off x="1676400" y="4619625"/>
            <a:ext cx="9934575" cy="190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94A3B8"/>
                </a:solidFill>
                <a:latin typeface="Inter"/>
                <a:ea typeface="Inter"/>
                <a:cs typeface="Inter"/>
                <a:sym typeface="Inter"/>
              </a:rPr>
              <a:t>Source: </a:t>
            </a:r>
            <a:r>
              <a:rPr b="0" i="0" lang="en-US" sz="1200" u="none" cap="none" strike="noStrike">
                <a:solidFill>
                  <a:srgbClr val="4F46E5"/>
                </a:solidFill>
                <a:latin typeface="Inter"/>
                <a:ea typeface="Inter"/>
                <a:cs typeface="Inter"/>
                <a:sym typeface="Inter"/>
              </a:rPr>
              <a:t>www.geeksforgeeks.org</a:t>
            </a:r>
            <a:endParaRPr/>
          </a:p>
        </p:txBody>
      </p:sp>
      <p:sp>
        <p:nvSpPr>
          <p:cNvPr id="231" name="Google Shape;231;p23"/>
          <p:cNvSpPr txBox="1"/>
          <p:nvPr/>
        </p:nvSpPr>
        <p:spPr>
          <a:xfrm>
            <a:off x="581025" y="581025"/>
            <a:ext cx="11581447" cy="542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F8FAFC"/>
                </a:solidFill>
                <a:latin typeface="Poppins"/>
                <a:ea typeface="Poppins"/>
                <a:cs typeface="Poppins"/>
                <a:sym typeface="Poppins"/>
              </a:rPr>
              <a:t>Image Sources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